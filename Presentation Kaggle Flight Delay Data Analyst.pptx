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Bold" charset="1" panose="00000800000000000000"/>
      <p:regular r:id="rId14"/>
    </p:embeddedFont>
    <p:embeddedFont>
      <p:font typeface="Poppins"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AB66C"/>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762772" cy="709824"/>
          </a:xfrm>
          <a:custGeom>
            <a:avLst/>
            <a:gdLst/>
            <a:ahLst/>
            <a:cxnLst/>
            <a:rect r="r" b="b" t="t" l="l"/>
            <a:pathLst>
              <a:path h="709824" w="762772">
                <a:moveTo>
                  <a:pt x="0" y="0"/>
                </a:moveTo>
                <a:lnTo>
                  <a:pt x="762772" y="0"/>
                </a:lnTo>
                <a:lnTo>
                  <a:pt x="762772" y="709824"/>
                </a:lnTo>
                <a:lnTo>
                  <a:pt x="0" y="709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48693" y="1383612"/>
            <a:ext cx="6310607" cy="7200900"/>
          </a:xfrm>
          <a:custGeom>
            <a:avLst/>
            <a:gdLst/>
            <a:ahLst/>
            <a:cxnLst/>
            <a:rect r="r" b="b" t="t" l="l"/>
            <a:pathLst>
              <a:path h="7200900" w="6310607">
                <a:moveTo>
                  <a:pt x="0" y="0"/>
                </a:moveTo>
                <a:lnTo>
                  <a:pt x="6310607" y="0"/>
                </a:lnTo>
                <a:lnTo>
                  <a:pt x="6310607"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137076"/>
            <a:ext cx="9253225" cy="3644296"/>
          </a:xfrm>
          <a:prstGeom prst="rect">
            <a:avLst/>
          </a:prstGeom>
        </p:spPr>
        <p:txBody>
          <a:bodyPr anchor="t" rtlCol="false" tIns="0" lIns="0" bIns="0" rIns="0">
            <a:spAutoFit/>
          </a:bodyPr>
          <a:lstStyle/>
          <a:p>
            <a:pPr algn="l">
              <a:lnSpc>
                <a:spcPts val="8716"/>
              </a:lnSpc>
            </a:pPr>
            <a:r>
              <a:rPr lang="en-US" sz="8301" b="true">
                <a:solidFill>
                  <a:srgbClr val="EFF1E8"/>
                </a:solidFill>
                <a:latin typeface="Montserrat Bold"/>
                <a:ea typeface="Montserrat Bold"/>
                <a:cs typeface="Montserrat Bold"/>
                <a:sym typeface="Montserrat Bold"/>
              </a:rPr>
              <a:t>PORTOFOLIO</a:t>
            </a:r>
          </a:p>
          <a:p>
            <a:pPr algn="l">
              <a:lnSpc>
                <a:spcPts val="6616"/>
              </a:lnSpc>
            </a:pPr>
            <a:r>
              <a:rPr lang="en-US" b="true" sz="6301">
                <a:solidFill>
                  <a:srgbClr val="EFF1E8"/>
                </a:solidFill>
                <a:latin typeface="Montserrat Bold"/>
                <a:ea typeface="Montserrat Bold"/>
                <a:cs typeface="Montserrat Bold"/>
                <a:sym typeface="Montserrat Bold"/>
              </a:rPr>
              <a:t>DASHBOARD </a:t>
            </a:r>
          </a:p>
          <a:p>
            <a:pPr algn="l">
              <a:lnSpc>
                <a:spcPts val="6616"/>
              </a:lnSpc>
            </a:pPr>
            <a:r>
              <a:rPr lang="en-US" b="true" sz="6301">
                <a:solidFill>
                  <a:srgbClr val="EFF1E8"/>
                </a:solidFill>
                <a:latin typeface="Montserrat Bold"/>
                <a:ea typeface="Montserrat Bold"/>
                <a:cs typeface="Montserrat Bold"/>
                <a:sym typeface="Montserrat Bold"/>
              </a:rPr>
              <a:t>FLIGHT DELAY ANALYSIS</a:t>
            </a:r>
          </a:p>
        </p:txBody>
      </p:sp>
      <p:grpSp>
        <p:nvGrpSpPr>
          <p:cNvPr name="Group 5" id="5"/>
          <p:cNvGrpSpPr/>
          <p:nvPr/>
        </p:nvGrpSpPr>
        <p:grpSpPr>
          <a:xfrm rot="0">
            <a:off x="17519831" y="-691855"/>
            <a:ext cx="1676063" cy="11497700"/>
            <a:chOff x="0" y="0"/>
            <a:chExt cx="441432" cy="3028201"/>
          </a:xfrm>
        </p:grpSpPr>
        <p:sp>
          <p:nvSpPr>
            <p:cNvPr name="Freeform 6" id="6"/>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7" id="7"/>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9" id="9"/>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10" id="10"/>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11" id="11"/>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2" id="12"/>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3" id="13"/>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grpSp>
        <p:nvGrpSpPr>
          <p:cNvPr name="Group 14" id="14"/>
          <p:cNvGrpSpPr/>
          <p:nvPr/>
        </p:nvGrpSpPr>
        <p:grpSpPr>
          <a:xfrm rot="0">
            <a:off x="1047750" y="7227423"/>
            <a:ext cx="3003266" cy="760738"/>
            <a:chOff x="0" y="0"/>
            <a:chExt cx="790984" cy="200359"/>
          </a:xfrm>
        </p:grpSpPr>
        <p:sp>
          <p:nvSpPr>
            <p:cNvPr name="Freeform 15" id="15"/>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6" id="16"/>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113746" y="7281732"/>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AAB66C"/>
                </a:solidFill>
                <a:latin typeface="Poppins"/>
                <a:ea typeface="Poppins"/>
                <a:cs typeface="Poppins"/>
                <a:sym typeface="Poppins"/>
              </a:rPr>
              <a:t>BigQuery</a:t>
            </a:r>
          </a:p>
        </p:txBody>
      </p:sp>
      <p:grpSp>
        <p:nvGrpSpPr>
          <p:cNvPr name="Group 18" id="18"/>
          <p:cNvGrpSpPr/>
          <p:nvPr/>
        </p:nvGrpSpPr>
        <p:grpSpPr>
          <a:xfrm rot="0">
            <a:off x="4607868" y="7227435"/>
            <a:ext cx="3003266" cy="760738"/>
            <a:chOff x="0" y="0"/>
            <a:chExt cx="790984" cy="200359"/>
          </a:xfrm>
        </p:grpSpPr>
        <p:sp>
          <p:nvSpPr>
            <p:cNvPr name="Freeform 19" id="19"/>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20" id="20"/>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4673864" y="7281744"/>
            <a:ext cx="2871274" cy="566420"/>
          </a:xfrm>
          <a:prstGeom prst="rect">
            <a:avLst/>
          </a:prstGeom>
        </p:spPr>
        <p:txBody>
          <a:bodyPr anchor="t" rtlCol="false" tIns="0" lIns="0" bIns="0" rIns="0">
            <a:spAutoFit/>
          </a:bodyPr>
          <a:lstStyle/>
          <a:p>
            <a:pPr algn="ctr">
              <a:lnSpc>
                <a:spcPts val="4479"/>
              </a:lnSpc>
              <a:spcBef>
                <a:spcPct val="0"/>
              </a:spcBef>
            </a:pPr>
            <a:r>
              <a:rPr lang="en-US" sz="3199">
                <a:solidFill>
                  <a:srgbClr val="AAB66C"/>
                </a:solidFill>
                <a:latin typeface="Poppins"/>
                <a:ea typeface="Poppins"/>
                <a:cs typeface="Poppins"/>
                <a:sym typeface="Poppins"/>
              </a:rPr>
              <a:t>Tableau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9945029" y="1194596"/>
            <a:ext cx="7314271" cy="6182391"/>
          </a:xfrm>
          <a:custGeom>
            <a:avLst/>
            <a:gdLst/>
            <a:ahLst/>
            <a:cxnLst/>
            <a:rect r="r" b="b" t="t" l="l"/>
            <a:pathLst>
              <a:path h="6182391" w="7314271">
                <a:moveTo>
                  <a:pt x="0" y="0"/>
                </a:moveTo>
                <a:lnTo>
                  <a:pt x="7314271" y="0"/>
                </a:lnTo>
                <a:lnTo>
                  <a:pt x="7314271" y="6182391"/>
                </a:lnTo>
                <a:lnTo>
                  <a:pt x="0" y="618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211764"/>
            <a:ext cx="10352286" cy="1046536"/>
            <a:chOff x="0" y="0"/>
            <a:chExt cx="2726528" cy="275631"/>
          </a:xfrm>
        </p:grpSpPr>
        <p:sp>
          <p:nvSpPr>
            <p:cNvPr name="Freeform 4" id="4"/>
            <p:cNvSpPr/>
            <p:nvPr/>
          </p:nvSpPr>
          <p:spPr>
            <a:xfrm flipH="false" flipV="false" rot="0">
              <a:off x="0" y="0"/>
              <a:ext cx="2726528" cy="275631"/>
            </a:xfrm>
            <a:custGeom>
              <a:avLst/>
              <a:gdLst/>
              <a:ahLst/>
              <a:cxnLst/>
              <a:rect r="r" b="b" t="t" l="l"/>
              <a:pathLst>
                <a:path h="275631" w="2726528">
                  <a:moveTo>
                    <a:pt x="74785" y="0"/>
                  </a:moveTo>
                  <a:lnTo>
                    <a:pt x="2651743" y="0"/>
                  </a:lnTo>
                  <a:cubicBezTo>
                    <a:pt x="2671577" y="0"/>
                    <a:pt x="2690599" y="7879"/>
                    <a:pt x="2704624" y="21904"/>
                  </a:cubicBezTo>
                  <a:cubicBezTo>
                    <a:pt x="2718649" y="35929"/>
                    <a:pt x="2726528" y="54951"/>
                    <a:pt x="2726528" y="74785"/>
                  </a:cubicBezTo>
                  <a:lnTo>
                    <a:pt x="2726528" y="200846"/>
                  </a:lnTo>
                  <a:cubicBezTo>
                    <a:pt x="2726528" y="220680"/>
                    <a:pt x="2718649" y="239702"/>
                    <a:pt x="2704624" y="253727"/>
                  </a:cubicBezTo>
                  <a:cubicBezTo>
                    <a:pt x="2690599" y="267752"/>
                    <a:pt x="2671577" y="275631"/>
                    <a:pt x="2651743" y="275631"/>
                  </a:cubicBezTo>
                  <a:lnTo>
                    <a:pt x="74785" y="275631"/>
                  </a:lnTo>
                  <a:cubicBezTo>
                    <a:pt x="54951" y="275631"/>
                    <a:pt x="35929" y="267752"/>
                    <a:pt x="21904" y="253727"/>
                  </a:cubicBezTo>
                  <a:cubicBezTo>
                    <a:pt x="7879" y="239702"/>
                    <a:pt x="0" y="220680"/>
                    <a:pt x="0" y="200846"/>
                  </a:cubicBezTo>
                  <a:lnTo>
                    <a:pt x="0" y="74785"/>
                  </a:lnTo>
                  <a:cubicBezTo>
                    <a:pt x="0" y="54951"/>
                    <a:pt x="7879" y="35929"/>
                    <a:pt x="21904" y="21904"/>
                  </a:cubicBezTo>
                  <a:cubicBezTo>
                    <a:pt x="35929" y="7879"/>
                    <a:pt x="54951" y="0"/>
                    <a:pt x="74785" y="0"/>
                  </a:cubicBezTo>
                  <a:close/>
                </a:path>
              </a:pathLst>
            </a:custGeom>
            <a:solidFill>
              <a:srgbClr val="343734"/>
            </a:solidFill>
          </p:spPr>
        </p:sp>
        <p:sp>
          <p:nvSpPr>
            <p:cNvPr name="TextBox 5" id="5"/>
            <p:cNvSpPr txBox="true"/>
            <p:nvPr/>
          </p:nvSpPr>
          <p:spPr>
            <a:xfrm>
              <a:off x="0" y="-38100"/>
              <a:ext cx="2726528" cy="3137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819606"/>
            <a:ext cx="773658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SUMMARY</a:t>
            </a:r>
          </a:p>
        </p:txBody>
      </p:sp>
      <p:sp>
        <p:nvSpPr>
          <p:cNvPr name="TextBox 7" id="7"/>
          <p:cNvSpPr txBox="true"/>
          <p:nvPr/>
        </p:nvSpPr>
        <p:spPr>
          <a:xfrm rot="0">
            <a:off x="1028700" y="3365500"/>
            <a:ext cx="7140660" cy="2130425"/>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M</a:t>
            </a:r>
            <a:r>
              <a:rPr lang="en-US" sz="2000">
                <a:solidFill>
                  <a:srgbClr val="343734"/>
                </a:solidFill>
                <a:latin typeface="Poppins"/>
                <a:ea typeface="Poppins"/>
                <a:cs typeface="Poppins"/>
                <a:sym typeface="Poppins"/>
              </a:rPr>
              <a:t>enganalisis lebih dari 4,3 juta menit keterlambatan penerbangan di Amerika Serikat untuk mengungkap akar penyebab delay, pola tren tahunan, dan maskapai dengan kontribusi delay tertinggi menghasilkan insight yang dapat mendukung strategi mitigasi operasional maskapai penerbangan.</a:t>
            </a:r>
          </a:p>
        </p:txBody>
      </p:sp>
      <p:sp>
        <p:nvSpPr>
          <p:cNvPr name="TextBox 8" id="8"/>
          <p:cNvSpPr txBox="true"/>
          <p:nvPr/>
        </p:nvSpPr>
        <p:spPr>
          <a:xfrm rot="0">
            <a:off x="1028700" y="5429250"/>
            <a:ext cx="7140660" cy="1778000"/>
          </a:xfrm>
          <a:prstGeom prst="rect">
            <a:avLst/>
          </a:prstGeom>
        </p:spPr>
        <p:txBody>
          <a:bodyPr anchor="t" rtlCol="false" tIns="0" lIns="0" bIns="0" rIns="0">
            <a:spAutoFit/>
          </a:bodyPr>
          <a:lstStyle/>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Total Arrival Delay: 4.311.122</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Penyebab Terbesar: Carrier Delay (39,8%)</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Ren</a:t>
            </a:r>
            <a:r>
              <a:rPr lang="en-US" sz="2000">
                <a:solidFill>
                  <a:srgbClr val="343734"/>
                </a:solidFill>
                <a:latin typeface="Poppins"/>
                <a:ea typeface="Poppins"/>
                <a:cs typeface="Poppins"/>
                <a:sym typeface="Poppins"/>
              </a:rPr>
              <a:t>tang Analisis: 2017 - 2022</a:t>
            </a:r>
          </a:p>
          <a:p>
            <a:pPr algn="just" marL="431801" indent="-215900" lvl="1">
              <a:lnSpc>
                <a:spcPts val="2800"/>
              </a:lnSpc>
              <a:spcBef>
                <a:spcPct val="0"/>
              </a:spcBef>
              <a:buFont typeface="Arial"/>
              <a:buChar char="•"/>
            </a:pPr>
            <a:r>
              <a:rPr lang="en-US" sz="2000">
                <a:solidFill>
                  <a:srgbClr val="343734"/>
                </a:solidFill>
                <a:latin typeface="Poppins"/>
                <a:ea typeface="Poppins"/>
                <a:cs typeface="Poppins"/>
                <a:sym typeface="Poppins"/>
              </a:rPr>
              <a:t>Cakupan: Pe</a:t>
            </a:r>
            <a:r>
              <a:rPr lang="en-US" sz="2000">
                <a:solidFill>
                  <a:srgbClr val="343734"/>
                </a:solidFill>
                <a:latin typeface="Poppins"/>
                <a:ea typeface="Poppins"/>
                <a:cs typeface="Poppins"/>
                <a:sym typeface="Poppins"/>
              </a:rPr>
              <a:t>ta geospasial seluruh wilayah AS</a:t>
            </a:r>
          </a:p>
          <a:p>
            <a:pPr algn="just">
              <a:lnSpc>
                <a:spcPts val="2800"/>
              </a:lnSpc>
              <a:spcBef>
                <a:spcPct val="0"/>
              </a:spcBef>
            </a:pPr>
          </a:p>
        </p:txBody>
      </p:sp>
      <p:grpSp>
        <p:nvGrpSpPr>
          <p:cNvPr name="Group 9" id="9"/>
          <p:cNvGrpSpPr/>
          <p:nvPr/>
        </p:nvGrpSpPr>
        <p:grpSpPr>
          <a:xfrm rot="0">
            <a:off x="8206473" y="8414835"/>
            <a:ext cx="2528429" cy="640461"/>
            <a:chOff x="0" y="0"/>
            <a:chExt cx="790984" cy="200359"/>
          </a:xfrm>
        </p:grpSpPr>
        <p:sp>
          <p:nvSpPr>
            <p:cNvPr name="Freeform 10" id="10"/>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1" id="11"/>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8262034" y="8456529"/>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Tableau</a:t>
            </a:r>
          </a:p>
        </p:txBody>
      </p:sp>
      <p:grpSp>
        <p:nvGrpSpPr>
          <p:cNvPr name="Group 13" id="13"/>
          <p:cNvGrpSpPr/>
          <p:nvPr/>
        </p:nvGrpSpPr>
        <p:grpSpPr>
          <a:xfrm rot="0">
            <a:off x="1702821" y="8414825"/>
            <a:ext cx="2528429" cy="640461"/>
            <a:chOff x="0" y="0"/>
            <a:chExt cx="790984" cy="200359"/>
          </a:xfrm>
        </p:grpSpPr>
        <p:sp>
          <p:nvSpPr>
            <p:cNvPr name="Freeform 14" id="14"/>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5" id="15"/>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758382" y="8456518"/>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BigQuery</a:t>
            </a:r>
          </a:p>
        </p:txBody>
      </p:sp>
      <p:grpSp>
        <p:nvGrpSpPr>
          <p:cNvPr name="Group 17" id="17"/>
          <p:cNvGrpSpPr/>
          <p:nvPr/>
        </p:nvGrpSpPr>
        <p:grpSpPr>
          <a:xfrm rot="0">
            <a:off x="4896993" y="8414802"/>
            <a:ext cx="2528429" cy="640461"/>
            <a:chOff x="0" y="0"/>
            <a:chExt cx="790984" cy="200359"/>
          </a:xfrm>
        </p:grpSpPr>
        <p:sp>
          <p:nvSpPr>
            <p:cNvPr name="Freeform 18" id="18"/>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EFF1E8"/>
            </a:solidFill>
          </p:spPr>
        </p:sp>
        <p:sp>
          <p:nvSpPr>
            <p:cNvPr name="TextBox 19" id="19"/>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952555" y="8456495"/>
            <a:ext cx="2417307" cy="480894"/>
          </a:xfrm>
          <a:prstGeom prst="rect">
            <a:avLst/>
          </a:prstGeom>
        </p:spPr>
        <p:txBody>
          <a:bodyPr anchor="t" rtlCol="false" tIns="0" lIns="0" bIns="0" rIns="0">
            <a:spAutoFit/>
          </a:bodyPr>
          <a:lstStyle/>
          <a:p>
            <a:pPr algn="ctr">
              <a:lnSpc>
                <a:spcPts val="3771"/>
              </a:lnSpc>
              <a:spcBef>
                <a:spcPct val="0"/>
              </a:spcBef>
            </a:pPr>
            <a:r>
              <a:rPr lang="en-US" sz="2694">
                <a:solidFill>
                  <a:srgbClr val="343734"/>
                </a:solidFill>
                <a:latin typeface="Poppins"/>
                <a:ea typeface="Poppins"/>
                <a:cs typeface="Poppins"/>
                <a:sym typeface="Poppins"/>
              </a:rPr>
              <a:t>Excel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990528" y="5787838"/>
            <a:ext cx="10123034" cy="886547"/>
            <a:chOff x="0" y="0"/>
            <a:chExt cx="3188162" cy="279210"/>
          </a:xfrm>
        </p:grpSpPr>
        <p:sp>
          <p:nvSpPr>
            <p:cNvPr name="Freeform 3" id="3"/>
            <p:cNvSpPr/>
            <p:nvPr/>
          </p:nvSpPr>
          <p:spPr>
            <a:xfrm flipH="false" flipV="false" rot="0">
              <a:off x="0" y="0"/>
              <a:ext cx="3188162" cy="279210"/>
            </a:xfrm>
            <a:custGeom>
              <a:avLst/>
              <a:gdLst/>
              <a:ahLst/>
              <a:cxnLst/>
              <a:rect r="r" b="b" t="t" l="l"/>
              <a:pathLst>
                <a:path h="279210" w="3188162">
                  <a:moveTo>
                    <a:pt x="39004" y="0"/>
                  </a:moveTo>
                  <a:lnTo>
                    <a:pt x="3149158" y="0"/>
                  </a:lnTo>
                  <a:cubicBezTo>
                    <a:pt x="3170699" y="0"/>
                    <a:pt x="3188162" y="17463"/>
                    <a:pt x="3188162" y="39004"/>
                  </a:cubicBezTo>
                  <a:lnTo>
                    <a:pt x="3188162" y="240206"/>
                  </a:lnTo>
                  <a:cubicBezTo>
                    <a:pt x="3188162" y="261748"/>
                    <a:pt x="3170699" y="279210"/>
                    <a:pt x="3149158" y="279210"/>
                  </a:cubicBezTo>
                  <a:lnTo>
                    <a:pt x="39004" y="279210"/>
                  </a:lnTo>
                  <a:cubicBezTo>
                    <a:pt x="17463" y="279210"/>
                    <a:pt x="0" y="261748"/>
                    <a:pt x="0" y="240206"/>
                  </a:cubicBezTo>
                  <a:lnTo>
                    <a:pt x="0" y="39004"/>
                  </a:lnTo>
                  <a:cubicBezTo>
                    <a:pt x="0" y="17463"/>
                    <a:pt x="17463" y="0"/>
                    <a:pt x="39004" y="0"/>
                  </a:cubicBezTo>
                  <a:close/>
                </a:path>
              </a:pathLst>
            </a:custGeom>
            <a:solidFill>
              <a:srgbClr val="343734"/>
            </a:solidFill>
          </p:spPr>
        </p:sp>
        <p:sp>
          <p:nvSpPr>
            <p:cNvPr name="TextBox 4" id="4"/>
            <p:cNvSpPr txBox="true"/>
            <p:nvPr/>
          </p:nvSpPr>
          <p:spPr>
            <a:xfrm>
              <a:off x="0" y="-38100"/>
              <a:ext cx="3188162" cy="31731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90528" y="6897417"/>
            <a:ext cx="10123034" cy="758758"/>
            <a:chOff x="0" y="0"/>
            <a:chExt cx="3188162" cy="238964"/>
          </a:xfrm>
        </p:grpSpPr>
        <p:sp>
          <p:nvSpPr>
            <p:cNvPr name="Freeform 6" id="6"/>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7" id="7"/>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90528" y="7887172"/>
            <a:ext cx="10123034" cy="758758"/>
            <a:chOff x="0" y="0"/>
            <a:chExt cx="3188162" cy="238964"/>
          </a:xfrm>
        </p:grpSpPr>
        <p:sp>
          <p:nvSpPr>
            <p:cNvPr name="Freeform 9" id="9"/>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10" id="10"/>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36845" y="-197439"/>
            <a:ext cx="3765505" cy="11168682"/>
            <a:chOff x="0" y="0"/>
            <a:chExt cx="991738" cy="2941546"/>
          </a:xfrm>
        </p:grpSpPr>
        <p:sp>
          <p:nvSpPr>
            <p:cNvPr name="Freeform 12" id="12"/>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3" id="13"/>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701994" y="579070"/>
            <a:ext cx="13854017" cy="247396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BACKGROUN</a:t>
            </a:r>
            <a:r>
              <a:rPr lang="en-US" b="true" sz="8799">
                <a:solidFill>
                  <a:srgbClr val="343734"/>
                </a:solidFill>
                <a:latin typeface="Montserrat Bold"/>
                <a:ea typeface="Montserrat Bold"/>
                <a:cs typeface="Montserrat Bold"/>
                <a:sym typeface="Montserrat Bold"/>
              </a:rPr>
              <a:t>D &amp; OBJECTIVE</a:t>
            </a:r>
          </a:p>
        </p:txBody>
      </p:sp>
      <p:sp>
        <p:nvSpPr>
          <p:cNvPr name="TextBox 15" id="15"/>
          <p:cNvSpPr txBox="true"/>
          <p:nvPr/>
        </p:nvSpPr>
        <p:spPr>
          <a:xfrm rot="0">
            <a:off x="701994" y="3266001"/>
            <a:ext cx="11127843" cy="2120900"/>
          </a:xfrm>
          <a:prstGeom prst="rect">
            <a:avLst/>
          </a:prstGeom>
        </p:spPr>
        <p:txBody>
          <a:bodyPr anchor="t" rtlCol="false" tIns="0" lIns="0" bIns="0" rIns="0">
            <a:spAutoFit/>
          </a:bodyPr>
          <a:lstStyle/>
          <a:p>
            <a:pPr algn="just">
              <a:lnSpc>
                <a:spcPts val="2799"/>
              </a:lnSpc>
              <a:spcBef>
                <a:spcPct val="0"/>
              </a:spcBef>
            </a:pPr>
            <a:r>
              <a:rPr lang="en-US" sz="1999" spc="465">
                <a:solidFill>
                  <a:srgbClr val="343734"/>
                </a:solidFill>
                <a:latin typeface="Poppins"/>
                <a:ea typeface="Poppins"/>
                <a:cs typeface="Poppins"/>
                <a:sym typeface="Poppins"/>
              </a:rPr>
              <a:t>Dashboard ini dibangun untuk menganalisis pola keterlambatan penerbangan di Amerika Serikat, dengan fokus pada dekomposisi penyebab delay (carrier, cuaca, NAS, keamanan, late aircraft), tren keterlambatan dari tahun ke tahun, serta kontribusi tiap maskapai terhadap total delay.</a:t>
            </a:r>
          </a:p>
        </p:txBody>
      </p:sp>
      <p:sp>
        <p:nvSpPr>
          <p:cNvPr name="TextBox 16" id="16"/>
          <p:cNvSpPr txBox="true"/>
          <p:nvPr/>
        </p:nvSpPr>
        <p:spPr>
          <a:xfrm rot="0">
            <a:off x="1322708" y="5848972"/>
            <a:ext cx="9458673" cy="707129"/>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Men</a:t>
            </a:r>
            <a:r>
              <a:rPr lang="en-US" sz="2007">
                <a:solidFill>
                  <a:srgbClr val="EFF1E8"/>
                </a:solidFill>
                <a:latin typeface="Poppins"/>
                <a:ea typeface="Poppins"/>
                <a:cs typeface="Poppins"/>
                <a:sym typeface="Poppins"/>
              </a:rPr>
              <a:t>dekomposisi total delay menjadi kategori penyebab untuk mengetahui faktor dominan.</a:t>
            </a:r>
          </a:p>
        </p:txBody>
      </p:sp>
      <p:sp>
        <p:nvSpPr>
          <p:cNvPr name="TextBox 17" id="17"/>
          <p:cNvSpPr txBox="true"/>
          <p:nvPr/>
        </p:nvSpPr>
        <p:spPr>
          <a:xfrm rot="0">
            <a:off x="1073856" y="7071265"/>
            <a:ext cx="9956377"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engidentifikasi tren persentase keterlambatan penerbangan.</a:t>
            </a:r>
          </a:p>
        </p:txBody>
      </p:sp>
      <p:sp>
        <p:nvSpPr>
          <p:cNvPr name="TextBox 18" id="18"/>
          <p:cNvSpPr txBox="true"/>
          <p:nvPr/>
        </p:nvSpPr>
        <p:spPr>
          <a:xfrm rot="0">
            <a:off x="701994" y="8059661"/>
            <a:ext cx="10700101"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embandingkan performa antar maskapai.</a:t>
            </a:r>
          </a:p>
        </p:txBody>
      </p:sp>
      <p:grpSp>
        <p:nvGrpSpPr>
          <p:cNvPr name="Group 19" id="19"/>
          <p:cNvGrpSpPr/>
          <p:nvPr/>
        </p:nvGrpSpPr>
        <p:grpSpPr>
          <a:xfrm rot="0">
            <a:off x="990528" y="8868962"/>
            <a:ext cx="10123034" cy="758758"/>
            <a:chOff x="0" y="0"/>
            <a:chExt cx="3188162" cy="238964"/>
          </a:xfrm>
        </p:grpSpPr>
        <p:sp>
          <p:nvSpPr>
            <p:cNvPr name="Freeform 20" id="20"/>
            <p:cNvSpPr/>
            <p:nvPr/>
          </p:nvSpPr>
          <p:spPr>
            <a:xfrm flipH="false" flipV="false" rot="0">
              <a:off x="0" y="0"/>
              <a:ext cx="3188162" cy="238964"/>
            </a:xfrm>
            <a:custGeom>
              <a:avLst/>
              <a:gdLst/>
              <a:ahLst/>
              <a:cxnLst/>
              <a:rect r="r" b="b" t="t" l="l"/>
              <a:pathLst>
                <a:path h="238964" w="3188162">
                  <a:moveTo>
                    <a:pt x="39004" y="0"/>
                  </a:moveTo>
                  <a:lnTo>
                    <a:pt x="3149158" y="0"/>
                  </a:lnTo>
                  <a:cubicBezTo>
                    <a:pt x="3170699" y="0"/>
                    <a:pt x="3188162" y="17463"/>
                    <a:pt x="3188162" y="39004"/>
                  </a:cubicBezTo>
                  <a:lnTo>
                    <a:pt x="3188162" y="199960"/>
                  </a:lnTo>
                  <a:cubicBezTo>
                    <a:pt x="3188162" y="221501"/>
                    <a:pt x="3170699" y="238964"/>
                    <a:pt x="3149158" y="238964"/>
                  </a:cubicBezTo>
                  <a:lnTo>
                    <a:pt x="39004" y="238964"/>
                  </a:lnTo>
                  <a:cubicBezTo>
                    <a:pt x="17463" y="238964"/>
                    <a:pt x="0" y="221501"/>
                    <a:pt x="0" y="199960"/>
                  </a:cubicBezTo>
                  <a:lnTo>
                    <a:pt x="0" y="39004"/>
                  </a:lnTo>
                  <a:cubicBezTo>
                    <a:pt x="0" y="17463"/>
                    <a:pt x="17463" y="0"/>
                    <a:pt x="39004" y="0"/>
                  </a:cubicBezTo>
                  <a:close/>
                </a:path>
              </a:pathLst>
            </a:custGeom>
            <a:solidFill>
              <a:srgbClr val="343734"/>
            </a:solidFill>
          </p:spPr>
        </p:sp>
        <p:sp>
          <p:nvSpPr>
            <p:cNvPr name="TextBox 21" id="21"/>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701994" y="9041451"/>
            <a:ext cx="10700101" cy="356650"/>
          </a:xfrm>
          <a:prstGeom prst="rect">
            <a:avLst/>
          </a:prstGeom>
        </p:spPr>
        <p:txBody>
          <a:bodyPr anchor="t" rtlCol="false" tIns="0" lIns="0" bIns="0" rIns="0">
            <a:spAutoFit/>
          </a:bodyPr>
          <a:lstStyle/>
          <a:p>
            <a:pPr algn="ctr">
              <a:lnSpc>
                <a:spcPts val="2809"/>
              </a:lnSpc>
              <a:spcBef>
                <a:spcPct val="0"/>
              </a:spcBef>
            </a:pPr>
            <a:r>
              <a:rPr lang="en-US" sz="2007">
                <a:solidFill>
                  <a:srgbClr val="EFF1E8"/>
                </a:solidFill>
                <a:latin typeface="Poppins"/>
                <a:ea typeface="Poppins"/>
                <a:cs typeface="Poppins"/>
                <a:sym typeface="Poppins"/>
              </a:rPr>
              <a:t>M</a:t>
            </a:r>
            <a:r>
              <a:rPr lang="en-US" sz="2007">
                <a:solidFill>
                  <a:srgbClr val="EFF1E8"/>
                </a:solidFill>
                <a:latin typeface="Poppins"/>
                <a:ea typeface="Poppins"/>
                <a:cs typeface="Poppins"/>
                <a:sym typeface="Poppins"/>
              </a:rPr>
              <a:t>emetakan sebaran delay secara geografis di seluruh wilayah 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8134259" y="2530848"/>
            <a:ext cx="9764398" cy="4866242"/>
            <a:chOff x="0" y="0"/>
            <a:chExt cx="1512761" cy="753908"/>
          </a:xfrm>
        </p:grpSpPr>
        <p:sp>
          <p:nvSpPr>
            <p:cNvPr name="Freeform 3" id="3"/>
            <p:cNvSpPr/>
            <p:nvPr/>
          </p:nvSpPr>
          <p:spPr>
            <a:xfrm flipH="false" flipV="false" rot="0">
              <a:off x="0" y="0"/>
              <a:ext cx="1512761" cy="753908"/>
            </a:xfrm>
            <a:custGeom>
              <a:avLst/>
              <a:gdLst/>
              <a:ahLst/>
              <a:cxnLst/>
              <a:rect r="r" b="b" t="t" l="l"/>
              <a:pathLst>
                <a:path h="753908" w="1512761">
                  <a:moveTo>
                    <a:pt x="0" y="0"/>
                  </a:moveTo>
                  <a:lnTo>
                    <a:pt x="1512761" y="0"/>
                  </a:lnTo>
                  <a:lnTo>
                    <a:pt x="1512761" y="753908"/>
                  </a:lnTo>
                  <a:lnTo>
                    <a:pt x="0" y="753908"/>
                  </a:lnTo>
                  <a:close/>
                </a:path>
              </a:pathLst>
            </a:custGeom>
            <a:blipFill>
              <a:blip r:embed="rId2"/>
              <a:stretch>
                <a:fillRect l="0" t="-665" r="0" b="-665"/>
              </a:stretch>
            </a:blipFill>
          </p:spPr>
        </p:sp>
      </p:grpSp>
      <p:sp>
        <p:nvSpPr>
          <p:cNvPr name="Freeform 4" id="4"/>
          <p:cNvSpPr/>
          <p:nvPr/>
        </p:nvSpPr>
        <p:spPr>
          <a:xfrm flipH="true" flipV="false" rot="0">
            <a:off x="-492078" y="6256376"/>
            <a:ext cx="3041556" cy="4472876"/>
          </a:xfrm>
          <a:custGeom>
            <a:avLst/>
            <a:gdLst/>
            <a:ahLst/>
            <a:cxnLst/>
            <a:rect r="r" b="b" t="t" l="l"/>
            <a:pathLst>
              <a:path h="4472876" w="3041556">
                <a:moveTo>
                  <a:pt x="3041556" y="0"/>
                </a:moveTo>
                <a:lnTo>
                  <a:pt x="0" y="0"/>
                </a:lnTo>
                <a:lnTo>
                  <a:pt x="0" y="4472876"/>
                </a:lnTo>
                <a:lnTo>
                  <a:pt x="3041556" y="4472876"/>
                </a:lnTo>
                <a:lnTo>
                  <a:pt x="3041556"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78867" y="2401653"/>
            <a:ext cx="502572" cy="697231"/>
            <a:chOff x="0" y="0"/>
            <a:chExt cx="585875" cy="812800"/>
          </a:xfrm>
        </p:grpSpPr>
        <p:sp>
          <p:nvSpPr>
            <p:cNvPr name="Freeform 6" id="6"/>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7" id="7"/>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34453" y="2401653"/>
            <a:ext cx="7088794" cy="697231"/>
            <a:chOff x="0" y="0"/>
            <a:chExt cx="2476000" cy="243532"/>
          </a:xfrm>
        </p:grpSpPr>
        <p:sp>
          <p:nvSpPr>
            <p:cNvPr name="Freeform 9" id="9"/>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0" id="10"/>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178867" y="3433109"/>
            <a:ext cx="502572" cy="697231"/>
            <a:chOff x="0" y="0"/>
            <a:chExt cx="585875" cy="812800"/>
          </a:xfrm>
        </p:grpSpPr>
        <p:sp>
          <p:nvSpPr>
            <p:cNvPr name="Freeform 12" id="12"/>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13" id="13"/>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34453" y="3433109"/>
            <a:ext cx="7088794" cy="697231"/>
            <a:chOff x="0" y="0"/>
            <a:chExt cx="2476000" cy="243532"/>
          </a:xfrm>
        </p:grpSpPr>
        <p:sp>
          <p:nvSpPr>
            <p:cNvPr name="Freeform 15" id="15"/>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16" id="16"/>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178867" y="4464566"/>
            <a:ext cx="502572" cy="697231"/>
            <a:chOff x="0" y="0"/>
            <a:chExt cx="585875" cy="812800"/>
          </a:xfrm>
        </p:grpSpPr>
        <p:sp>
          <p:nvSpPr>
            <p:cNvPr name="Freeform 18" id="18"/>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19" id="19"/>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734453" y="4464566"/>
            <a:ext cx="7088794" cy="697231"/>
            <a:chOff x="0" y="0"/>
            <a:chExt cx="2476000" cy="243532"/>
          </a:xfrm>
        </p:grpSpPr>
        <p:sp>
          <p:nvSpPr>
            <p:cNvPr name="Freeform 21" id="21"/>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22" id="22"/>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78867" y="5496022"/>
            <a:ext cx="502572" cy="697231"/>
            <a:chOff x="0" y="0"/>
            <a:chExt cx="585875" cy="812800"/>
          </a:xfrm>
        </p:grpSpPr>
        <p:sp>
          <p:nvSpPr>
            <p:cNvPr name="Freeform 24" id="24"/>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25" id="25"/>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734453" y="5496022"/>
            <a:ext cx="7088794" cy="890120"/>
            <a:chOff x="0" y="0"/>
            <a:chExt cx="2476000" cy="310904"/>
          </a:xfrm>
        </p:grpSpPr>
        <p:sp>
          <p:nvSpPr>
            <p:cNvPr name="Freeform 27" id="27"/>
            <p:cNvSpPr/>
            <p:nvPr/>
          </p:nvSpPr>
          <p:spPr>
            <a:xfrm flipH="false" flipV="false" rot="0">
              <a:off x="0" y="0"/>
              <a:ext cx="2476000" cy="310904"/>
            </a:xfrm>
            <a:custGeom>
              <a:avLst/>
              <a:gdLst/>
              <a:ahLst/>
              <a:cxnLst/>
              <a:rect r="r" b="b" t="t" l="l"/>
              <a:pathLst>
                <a:path h="310904" w="2476000">
                  <a:moveTo>
                    <a:pt x="55699" y="0"/>
                  </a:moveTo>
                  <a:lnTo>
                    <a:pt x="2420301" y="0"/>
                  </a:lnTo>
                  <a:cubicBezTo>
                    <a:pt x="2451063" y="0"/>
                    <a:pt x="2476000" y="24937"/>
                    <a:pt x="2476000" y="55699"/>
                  </a:cubicBezTo>
                  <a:lnTo>
                    <a:pt x="2476000" y="255206"/>
                  </a:lnTo>
                  <a:cubicBezTo>
                    <a:pt x="2476000" y="269978"/>
                    <a:pt x="2470132" y="284145"/>
                    <a:pt x="2459686" y="294591"/>
                  </a:cubicBezTo>
                  <a:cubicBezTo>
                    <a:pt x="2449241" y="305036"/>
                    <a:pt x="2435073" y="310904"/>
                    <a:pt x="2420301" y="310904"/>
                  </a:cubicBezTo>
                  <a:lnTo>
                    <a:pt x="55699" y="310904"/>
                  </a:lnTo>
                  <a:cubicBezTo>
                    <a:pt x="40927" y="310904"/>
                    <a:pt x="26759" y="305036"/>
                    <a:pt x="16314" y="294591"/>
                  </a:cubicBezTo>
                  <a:cubicBezTo>
                    <a:pt x="5868" y="284145"/>
                    <a:pt x="0" y="269978"/>
                    <a:pt x="0" y="255206"/>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28" id="28"/>
            <p:cNvSpPr txBox="true"/>
            <p:nvPr/>
          </p:nvSpPr>
          <p:spPr>
            <a:xfrm>
              <a:off x="0" y="-38100"/>
              <a:ext cx="2476000" cy="349004"/>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1178867" y="6527479"/>
            <a:ext cx="502572" cy="697231"/>
            <a:chOff x="0" y="0"/>
            <a:chExt cx="585875" cy="812800"/>
          </a:xfrm>
        </p:grpSpPr>
        <p:sp>
          <p:nvSpPr>
            <p:cNvPr name="Freeform 30" id="30"/>
            <p:cNvSpPr/>
            <p:nvPr/>
          </p:nvSpPr>
          <p:spPr>
            <a:xfrm flipH="false" flipV="false" rot="0">
              <a:off x="0" y="0"/>
              <a:ext cx="585875" cy="812800"/>
            </a:xfrm>
            <a:custGeom>
              <a:avLst/>
              <a:gdLst/>
              <a:ahLst/>
              <a:cxnLst/>
              <a:rect r="r" b="b" t="t" l="l"/>
              <a:pathLst>
                <a:path h="812800" w="585875">
                  <a:moveTo>
                    <a:pt x="292938" y="0"/>
                  </a:moveTo>
                  <a:cubicBezTo>
                    <a:pt x="131153" y="0"/>
                    <a:pt x="0" y="181951"/>
                    <a:pt x="0" y="406400"/>
                  </a:cubicBezTo>
                  <a:cubicBezTo>
                    <a:pt x="0" y="630849"/>
                    <a:pt x="131153" y="812800"/>
                    <a:pt x="292938" y="812800"/>
                  </a:cubicBezTo>
                  <a:cubicBezTo>
                    <a:pt x="454723" y="812800"/>
                    <a:pt x="585875" y="630849"/>
                    <a:pt x="585875" y="406400"/>
                  </a:cubicBezTo>
                  <a:cubicBezTo>
                    <a:pt x="585875" y="181951"/>
                    <a:pt x="454723" y="0"/>
                    <a:pt x="292938" y="0"/>
                  </a:cubicBezTo>
                  <a:close/>
                </a:path>
              </a:pathLst>
            </a:custGeom>
            <a:solidFill>
              <a:srgbClr val="EFF1E8"/>
            </a:solidFill>
          </p:spPr>
        </p:sp>
        <p:sp>
          <p:nvSpPr>
            <p:cNvPr name="TextBox 31" id="31"/>
            <p:cNvSpPr txBox="true"/>
            <p:nvPr/>
          </p:nvSpPr>
          <p:spPr>
            <a:xfrm>
              <a:off x="54926" y="38100"/>
              <a:ext cx="476024" cy="698500"/>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734453" y="6623498"/>
            <a:ext cx="7088794" cy="697231"/>
            <a:chOff x="0" y="0"/>
            <a:chExt cx="2476000" cy="243532"/>
          </a:xfrm>
        </p:grpSpPr>
        <p:sp>
          <p:nvSpPr>
            <p:cNvPr name="Freeform 33" id="33"/>
            <p:cNvSpPr/>
            <p:nvPr/>
          </p:nvSpPr>
          <p:spPr>
            <a:xfrm flipH="false" flipV="false" rot="0">
              <a:off x="0" y="0"/>
              <a:ext cx="2476000" cy="243532"/>
            </a:xfrm>
            <a:custGeom>
              <a:avLst/>
              <a:gdLst/>
              <a:ahLst/>
              <a:cxnLst/>
              <a:rect r="r" b="b" t="t" l="l"/>
              <a:pathLst>
                <a:path h="243532" w="2476000">
                  <a:moveTo>
                    <a:pt x="55699" y="0"/>
                  </a:moveTo>
                  <a:lnTo>
                    <a:pt x="2420301" y="0"/>
                  </a:lnTo>
                  <a:cubicBezTo>
                    <a:pt x="2451063" y="0"/>
                    <a:pt x="2476000" y="24937"/>
                    <a:pt x="2476000" y="55699"/>
                  </a:cubicBezTo>
                  <a:lnTo>
                    <a:pt x="2476000" y="187833"/>
                  </a:lnTo>
                  <a:cubicBezTo>
                    <a:pt x="2476000" y="202605"/>
                    <a:pt x="2470132" y="216772"/>
                    <a:pt x="2459686" y="227218"/>
                  </a:cubicBezTo>
                  <a:cubicBezTo>
                    <a:pt x="2449241" y="237663"/>
                    <a:pt x="2435073" y="243532"/>
                    <a:pt x="2420301" y="243532"/>
                  </a:cubicBezTo>
                  <a:lnTo>
                    <a:pt x="55699" y="243532"/>
                  </a:lnTo>
                  <a:cubicBezTo>
                    <a:pt x="40927" y="243532"/>
                    <a:pt x="26759" y="237663"/>
                    <a:pt x="16314" y="227218"/>
                  </a:cubicBezTo>
                  <a:cubicBezTo>
                    <a:pt x="5868" y="216772"/>
                    <a:pt x="0" y="202605"/>
                    <a:pt x="0" y="187833"/>
                  </a:cubicBezTo>
                  <a:lnTo>
                    <a:pt x="0" y="55699"/>
                  </a:lnTo>
                  <a:cubicBezTo>
                    <a:pt x="0" y="40927"/>
                    <a:pt x="5868" y="26759"/>
                    <a:pt x="16314" y="16314"/>
                  </a:cubicBezTo>
                  <a:cubicBezTo>
                    <a:pt x="26759" y="5868"/>
                    <a:pt x="40927" y="0"/>
                    <a:pt x="55699" y="0"/>
                  </a:cubicBezTo>
                  <a:close/>
                </a:path>
              </a:pathLst>
            </a:custGeom>
            <a:solidFill>
              <a:srgbClr val="343734"/>
            </a:solidFill>
          </p:spPr>
        </p:sp>
        <p:sp>
          <p:nvSpPr>
            <p:cNvPr name="TextBox 34" id="34"/>
            <p:cNvSpPr txBox="true"/>
            <p:nvPr/>
          </p:nvSpPr>
          <p:spPr>
            <a:xfrm>
              <a:off x="0" y="-38100"/>
              <a:ext cx="2476000" cy="281632"/>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847045" y="2542281"/>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KPI</a:t>
            </a:r>
            <a:r>
              <a:rPr lang="en-US" sz="1999">
                <a:solidFill>
                  <a:srgbClr val="EFF1E8"/>
                </a:solidFill>
                <a:latin typeface="Poppins"/>
                <a:ea typeface="Poppins"/>
                <a:cs typeface="Poppins"/>
                <a:sym typeface="Poppins"/>
              </a:rPr>
              <a:t> Card: 6 kategori delay </a:t>
            </a:r>
          </a:p>
        </p:txBody>
      </p:sp>
      <p:sp>
        <p:nvSpPr>
          <p:cNvPr name="TextBox 36" id="36"/>
          <p:cNvSpPr txBox="true"/>
          <p:nvPr/>
        </p:nvSpPr>
        <p:spPr>
          <a:xfrm rot="0">
            <a:off x="1114721" y="2452783"/>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1</a:t>
            </a:r>
          </a:p>
        </p:txBody>
      </p:sp>
      <p:sp>
        <p:nvSpPr>
          <p:cNvPr name="TextBox 37" id="37"/>
          <p:cNvSpPr txBox="true"/>
          <p:nvPr/>
        </p:nvSpPr>
        <p:spPr>
          <a:xfrm rot="0">
            <a:off x="1847045" y="3573738"/>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L</a:t>
            </a:r>
            <a:r>
              <a:rPr lang="en-US" sz="1999">
                <a:solidFill>
                  <a:srgbClr val="EFF1E8"/>
                </a:solidFill>
                <a:latin typeface="Poppins"/>
                <a:ea typeface="Poppins"/>
                <a:cs typeface="Poppins"/>
                <a:sym typeface="Poppins"/>
              </a:rPr>
              <a:t>ine Chart: Tren persentase flight delay</a:t>
            </a:r>
          </a:p>
        </p:txBody>
      </p:sp>
      <p:sp>
        <p:nvSpPr>
          <p:cNvPr name="TextBox 38" id="38"/>
          <p:cNvSpPr txBox="true"/>
          <p:nvPr/>
        </p:nvSpPr>
        <p:spPr>
          <a:xfrm rot="0">
            <a:off x="1114721" y="3484240"/>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2</a:t>
            </a:r>
          </a:p>
        </p:txBody>
      </p:sp>
      <p:sp>
        <p:nvSpPr>
          <p:cNvPr name="TextBox 39" id="39"/>
          <p:cNvSpPr txBox="true"/>
          <p:nvPr/>
        </p:nvSpPr>
        <p:spPr>
          <a:xfrm rot="0">
            <a:off x="1847045" y="4605194"/>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B</a:t>
            </a:r>
            <a:r>
              <a:rPr lang="en-US" sz="1999">
                <a:solidFill>
                  <a:srgbClr val="EFF1E8"/>
                </a:solidFill>
                <a:latin typeface="Poppins"/>
                <a:ea typeface="Poppins"/>
                <a:cs typeface="Poppins"/>
                <a:sym typeface="Poppins"/>
              </a:rPr>
              <a:t>ar Chart: Total delay per maskapai</a:t>
            </a:r>
          </a:p>
        </p:txBody>
      </p:sp>
      <p:sp>
        <p:nvSpPr>
          <p:cNvPr name="TextBox 40" id="40"/>
          <p:cNvSpPr txBox="true"/>
          <p:nvPr/>
        </p:nvSpPr>
        <p:spPr>
          <a:xfrm rot="0">
            <a:off x="1114721" y="4515696"/>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3</a:t>
            </a:r>
          </a:p>
        </p:txBody>
      </p:sp>
      <p:sp>
        <p:nvSpPr>
          <p:cNvPr name="TextBox 41" id="41"/>
          <p:cNvSpPr txBox="true"/>
          <p:nvPr/>
        </p:nvSpPr>
        <p:spPr>
          <a:xfrm rot="0">
            <a:off x="1745584" y="5556907"/>
            <a:ext cx="5897892" cy="711200"/>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Bubble Map:</a:t>
            </a:r>
            <a:r>
              <a:rPr lang="en-US" sz="1999">
                <a:solidFill>
                  <a:srgbClr val="EFF1E8"/>
                </a:solidFill>
                <a:latin typeface="Poppins"/>
                <a:ea typeface="Poppins"/>
                <a:cs typeface="Poppins"/>
                <a:sym typeface="Poppins"/>
              </a:rPr>
              <a:t> Sebaran delay secara geospasial di wilayah AS</a:t>
            </a:r>
          </a:p>
        </p:txBody>
      </p:sp>
      <p:sp>
        <p:nvSpPr>
          <p:cNvPr name="TextBox 42" id="42"/>
          <p:cNvSpPr txBox="true"/>
          <p:nvPr/>
        </p:nvSpPr>
        <p:spPr>
          <a:xfrm rot="0">
            <a:off x="1028700" y="5643585"/>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4</a:t>
            </a:r>
          </a:p>
        </p:txBody>
      </p:sp>
      <p:sp>
        <p:nvSpPr>
          <p:cNvPr name="TextBox 43" id="43"/>
          <p:cNvSpPr txBox="true"/>
          <p:nvPr/>
        </p:nvSpPr>
        <p:spPr>
          <a:xfrm rot="0">
            <a:off x="1847045" y="6764126"/>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Fil</a:t>
            </a:r>
            <a:r>
              <a:rPr lang="en-US" sz="1999">
                <a:solidFill>
                  <a:srgbClr val="EFF1E8"/>
                </a:solidFill>
                <a:latin typeface="Poppins"/>
                <a:ea typeface="Poppins"/>
                <a:cs typeface="Poppins"/>
                <a:sym typeface="Poppins"/>
              </a:rPr>
              <a:t>te</a:t>
            </a:r>
            <a:r>
              <a:rPr lang="en-US" sz="1999">
                <a:solidFill>
                  <a:srgbClr val="EFF1E8"/>
                </a:solidFill>
                <a:latin typeface="Poppins"/>
                <a:ea typeface="Poppins"/>
                <a:cs typeface="Poppins"/>
                <a:sym typeface="Poppins"/>
              </a:rPr>
              <a:t>r: Tahun</a:t>
            </a:r>
          </a:p>
        </p:txBody>
      </p:sp>
      <p:sp>
        <p:nvSpPr>
          <p:cNvPr name="TextBox 44" id="44"/>
          <p:cNvSpPr txBox="true"/>
          <p:nvPr/>
        </p:nvSpPr>
        <p:spPr>
          <a:xfrm rot="0">
            <a:off x="1114721" y="6674629"/>
            <a:ext cx="630863"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EFF1E8"/>
                </a:solidFill>
                <a:latin typeface="Montserrat Bold"/>
                <a:ea typeface="Montserrat Bold"/>
                <a:cs typeface="Montserrat Bold"/>
                <a:sym typeface="Montserrat Bold"/>
              </a:rPr>
              <a:t>5</a:t>
            </a:r>
          </a:p>
        </p:txBody>
      </p:sp>
      <p:sp>
        <p:nvSpPr>
          <p:cNvPr name="TextBox 45" id="45"/>
          <p:cNvSpPr txBox="true"/>
          <p:nvPr/>
        </p:nvSpPr>
        <p:spPr>
          <a:xfrm rot="0">
            <a:off x="1224722" y="358860"/>
            <a:ext cx="16034578" cy="1245235"/>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DASHBOARD OVERVIEW</a:t>
            </a:r>
          </a:p>
        </p:txBody>
      </p:sp>
      <p:sp>
        <p:nvSpPr>
          <p:cNvPr name="TextBox 46" id="46"/>
          <p:cNvSpPr txBox="true"/>
          <p:nvPr/>
        </p:nvSpPr>
        <p:spPr>
          <a:xfrm rot="0">
            <a:off x="8134259" y="7547901"/>
            <a:ext cx="5897892" cy="358775"/>
          </a:xfrm>
          <a:prstGeom prst="rect">
            <a:avLst/>
          </a:prstGeom>
        </p:spPr>
        <p:txBody>
          <a:bodyPr anchor="t" rtlCol="false" tIns="0" lIns="0" bIns="0" rIns="0">
            <a:spAutoFit/>
          </a:bodyPr>
          <a:lstStyle/>
          <a:p>
            <a:pPr algn="l">
              <a:lnSpc>
                <a:spcPts val="2799"/>
              </a:lnSpc>
              <a:spcBef>
                <a:spcPct val="0"/>
              </a:spcBef>
            </a:pPr>
            <a:r>
              <a:rPr lang="en-US" sz="1999">
                <a:solidFill>
                  <a:srgbClr val="5E17EB"/>
                </a:solidFill>
                <a:latin typeface="Poppins"/>
                <a:ea typeface="Poppins"/>
                <a:cs typeface="Poppins"/>
                <a:sym typeface="Poppins"/>
              </a:rPr>
              <a:t>Link Tableau</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7059384" y="-675769"/>
            <a:ext cx="1773784" cy="11876099"/>
            <a:chOff x="0" y="0"/>
            <a:chExt cx="467170" cy="3127862"/>
          </a:xfrm>
        </p:grpSpPr>
        <p:sp>
          <p:nvSpPr>
            <p:cNvPr name="Freeform 3" id="3"/>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4" id="4"/>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1028700" y="1123950"/>
            <a:ext cx="1385401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INSIGHT</a:t>
            </a:r>
          </a:p>
        </p:txBody>
      </p:sp>
      <p:grpSp>
        <p:nvGrpSpPr>
          <p:cNvPr name="Group 6" id="6"/>
          <p:cNvGrpSpPr/>
          <p:nvPr/>
        </p:nvGrpSpPr>
        <p:grpSpPr>
          <a:xfrm rot="0">
            <a:off x="474946" y="3593602"/>
            <a:ext cx="5176543" cy="2934108"/>
            <a:chOff x="0" y="0"/>
            <a:chExt cx="1363369" cy="772769"/>
          </a:xfrm>
        </p:grpSpPr>
        <p:sp>
          <p:nvSpPr>
            <p:cNvPr name="Freeform 7" id="7"/>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8" id="8"/>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001974" y="3593602"/>
            <a:ext cx="5176543" cy="2934108"/>
            <a:chOff x="0" y="0"/>
            <a:chExt cx="1363369" cy="772769"/>
          </a:xfrm>
        </p:grpSpPr>
        <p:sp>
          <p:nvSpPr>
            <p:cNvPr name="Freeform 10" id="10"/>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1" id="11"/>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30942" y="3593602"/>
            <a:ext cx="5176543" cy="2934108"/>
            <a:chOff x="0" y="0"/>
            <a:chExt cx="1363369" cy="772769"/>
          </a:xfrm>
        </p:grpSpPr>
        <p:sp>
          <p:nvSpPr>
            <p:cNvPr name="Freeform 13" id="13"/>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4" id="14"/>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3086468" y="6814052"/>
            <a:ext cx="5176543" cy="2934108"/>
            <a:chOff x="0" y="0"/>
            <a:chExt cx="1363369" cy="772769"/>
          </a:xfrm>
        </p:grpSpPr>
        <p:sp>
          <p:nvSpPr>
            <p:cNvPr name="Freeform 16" id="16"/>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7" id="17"/>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590246" y="6689635"/>
            <a:ext cx="5176543" cy="2934108"/>
            <a:chOff x="0" y="0"/>
            <a:chExt cx="1363369" cy="772769"/>
          </a:xfrm>
        </p:grpSpPr>
        <p:sp>
          <p:nvSpPr>
            <p:cNvPr name="Freeform 19" id="19"/>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20" id="20"/>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496963" y="8593415"/>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800644"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Carrier Delay 73%</a:t>
            </a:r>
          </a:p>
        </p:txBody>
      </p:sp>
      <p:sp>
        <p:nvSpPr>
          <p:cNvPr name="TextBox 23" id="23"/>
          <p:cNvSpPr txBox="true"/>
          <p:nvPr/>
        </p:nvSpPr>
        <p:spPr>
          <a:xfrm rot="0">
            <a:off x="799737" y="4709838"/>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mayoritas delay berasal dari faktor yang dapat dikendalikan oleh maskapai sendiri, bukan faktor eksternal seperti cuaca atau sistem ATC.</a:t>
            </a:r>
          </a:p>
        </p:txBody>
      </p:sp>
      <p:sp>
        <p:nvSpPr>
          <p:cNvPr name="TextBox 24" id="24"/>
          <p:cNvSpPr txBox="true"/>
          <p:nvPr/>
        </p:nvSpPr>
        <p:spPr>
          <a:xfrm rot="0">
            <a:off x="800644"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1</a:t>
            </a:r>
          </a:p>
        </p:txBody>
      </p:sp>
      <p:sp>
        <p:nvSpPr>
          <p:cNvPr name="TextBox 25" id="25"/>
          <p:cNvSpPr txBox="true"/>
          <p:nvPr/>
        </p:nvSpPr>
        <p:spPr>
          <a:xfrm rot="0">
            <a:off x="6327672"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Weath</a:t>
            </a:r>
            <a:r>
              <a:rPr lang="en-US" b="true" sz="1999">
                <a:solidFill>
                  <a:srgbClr val="343734"/>
                </a:solidFill>
                <a:latin typeface="Montserrat Bold"/>
                <a:ea typeface="Montserrat Bold"/>
                <a:cs typeface="Montserrat Bold"/>
                <a:sym typeface="Montserrat Bold"/>
              </a:rPr>
              <a:t>er Delay 8,2%</a:t>
            </a:r>
          </a:p>
        </p:txBody>
      </p:sp>
      <p:sp>
        <p:nvSpPr>
          <p:cNvPr name="TextBox 26" id="26"/>
          <p:cNvSpPr txBox="true"/>
          <p:nvPr/>
        </p:nvSpPr>
        <p:spPr>
          <a:xfrm rot="0">
            <a:off x="6327672" y="4709838"/>
            <a:ext cx="4221162" cy="1416050"/>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Menyimpulkan </a:t>
            </a:r>
            <a:r>
              <a:rPr lang="en-US" sz="1999">
                <a:solidFill>
                  <a:srgbClr val="343734"/>
                </a:solidFill>
                <a:latin typeface="Poppins"/>
                <a:ea typeface="Poppins"/>
                <a:cs typeface="Poppins"/>
                <a:sym typeface="Poppins"/>
              </a:rPr>
              <a:t>bahwa akar</a:t>
            </a:r>
            <a:r>
              <a:rPr lang="en-US" sz="1999">
                <a:solidFill>
                  <a:srgbClr val="343734"/>
                </a:solidFill>
                <a:latin typeface="Poppins"/>
                <a:ea typeface="Poppins"/>
                <a:cs typeface="Poppins"/>
                <a:sym typeface="Poppins"/>
              </a:rPr>
              <a:t> masalah delay lebih ke sisi operasional internal, bukan force majeure.</a:t>
            </a:r>
          </a:p>
        </p:txBody>
      </p:sp>
      <p:sp>
        <p:nvSpPr>
          <p:cNvPr name="TextBox 27" id="27"/>
          <p:cNvSpPr txBox="true"/>
          <p:nvPr/>
        </p:nvSpPr>
        <p:spPr>
          <a:xfrm rot="0">
            <a:off x="6327672" y="3641793"/>
            <a:ext cx="875213" cy="71247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2</a:t>
            </a:r>
          </a:p>
        </p:txBody>
      </p:sp>
      <p:sp>
        <p:nvSpPr>
          <p:cNvPr name="TextBox 28" id="28"/>
          <p:cNvSpPr txBox="true"/>
          <p:nvPr/>
        </p:nvSpPr>
        <p:spPr>
          <a:xfrm rot="0">
            <a:off x="11856640" y="437963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Tren</a:t>
            </a:r>
          </a:p>
        </p:txBody>
      </p:sp>
      <p:sp>
        <p:nvSpPr>
          <p:cNvPr name="TextBox 29" id="29"/>
          <p:cNvSpPr txBox="true"/>
          <p:nvPr/>
        </p:nvSpPr>
        <p:spPr>
          <a:xfrm rot="0">
            <a:off x="11854792" y="4701893"/>
            <a:ext cx="4221162" cy="106362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S</a:t>
            </a:r>
            <a:r>
              <a:rPr lang="en-US" sz="1999">
                <a:solidFill>
                  <a:srgbClr val="343734"/>
                </a:solidFill>
                <a:latin typeface="Poppins"/>
                <a:ea typeface="Poppins"/>
                <a:cs typeface="Poppins"/>
                <a:sym typeface="Poppins"/>
              </a:rPr>
              <a:t>epanjang 2017–2019, persentase flight delay relatif stabil di kisaran 33%–40%.</a:t>
            </a:r>
          </a:p>
        </p:txBody>
      </p:sp>
      <p:sp>
        <p:nvSpPr>
          <p:cNvPr name="TextBox 30" id="30"/>
          <p:cNvSpPr txBox="true"/>
          <p:nvPr/>
        </p:nvSpPr>
        <p:spPr>
          <a:xfrm rot="0">
            <a:off x="11856640" y="364179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3</a:t>
            </a:r>
          </a:p>
        </p:txBody>
      </p:sp>
      <p:sp>
        <p:nvSpPr>
          <p:cNvPr name="TextBox 31" id="31"/>
          <p:cNvSpPr txBox="true"/>
          <p:nvPr/>
        </p:nvSpPr>
        <p:spPr>
          <a:xfrm rot="0">
            <a:off x="3412166" y="7600088"/>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Tren</a:t>
            </a:r>
          </a:p>
        </p:txBody>
      </p:sp>
      <p:sp>
        <p:nvSpPr>
          <p:cNvPr name="TextBox 32" id="32"/>
          <p:cNvSpPr txBox="true"/>
          <p:nvPr/>
        </p:nvSpPr>
        <p:spPr>
          <a:xfrm rot="0">
            <a:off x="3412166" y="7930288"/>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lonjakan tajam mulai 2020 periode yang bertepatan dengan awal pandemi COVID-19, kemungkinan terkait disrupsi operasional</a:t>
            </a:r>
          </a:p>
        </p:txBody>
      </p:sp>
      <p:sp>
        <p:nvSpPr>
          <p:cNvPr name="TextBox 33" id="33"/>
          <p:cNvSpPr txBox="true"/>
          <p:nvPr/>
        </p:nvSpPr>
        <p:spPr>
          <a:xfrm rot="0">
            <a:off x="3412166" y="686224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4</a:t>
            </a:r>
          </a:p>
        </p:txBody>
      </p:sp>
      <p:sp>
        <p:nvSpPr>
          <p:cNvPr name="TextBox 34" id="34"/>
          <p:cNvSpPr txBox="true"/>
          <p:nvPr/>
        </p:nvSpPr>
        <p:spPr>
          <a:xfrm rot="0">
            <a:off x="8939194" y="7546089"/>
            <a:ext cx="4460007" cy="330200"/>
          </a:xfrm>
          <a:prstGeom prst="rect">
            <a:avLst/>
          </a:prstGeom>
        </p:spPr>
        <p:txBody>
          <a:bodyPr anchor="t" rtlCol="false" tIns="0" lIns="0" bIns="0" rIns="0">
            <a:spAutoFit/>
          </a:bodyPr>
          <a:lstStyle/>
          <a:p>
            <a:pPr algn="l">
              <a:lnSpc>
                <a:spcPts val="2799"/>
              </a:lnSpc>
              <a:spcBef>
                <a:spcPct val="0"/>
              </a:spcBef>
            </a:pPr>
            <a:r>
              <a:rPr lang="en-US" b="true" sz="1999">
                <a:solidFill>
                  <a:srgbClr val="343734"/>
                </a:solidFill>
                <a:latin typeface="Montserrat Bold"/>
                <a:ea typeface="Montserrat Bold"/>
                <a:cs typeface="Montserrat Bold"/>
                <a:sym typeface="Montserrat Bold"/>
              </a:rPr>
              <a:t>Most Delay</a:t>
            </a:r>
          </a:p>
        </p:txBody>
      </p:sp>
      <p:sp>
        <p:nvSpPr>
          <p:cNvPr name="TextBox 35" id="35"/>
          <p:cNvSpPr txBox="true"/>
          <p:nvPr/>
        </p:nvSpPr>
        <p:spPr>
          <a:xfrm rot="0">
            <a:off x="8939194" y="7876289"/>
            <a:ext cx="4221162" cy="1768475"/>
          </a:xfrm>
          <a:prstGeom prst="rect">
            <a:avLst/>
          </a:prstGeom>
        </p:spPr>
        <p:txBody>
          <a:bodyPr anchor="t" rtlCol="false" tIns="0" lIns="0" bIns="0" rIns="0">
            <a:spAutoFit/>
          </a:bodyPr>
          <a:lstStyle/>
          <a:p>
            <a:pPr algn="l">
              <a:lnSpc>
                <a:spcPts val="2799"/>
              </a:lnSpc>
              <a:spcBef>
                <a:spcPct val="0"/>
              </a:spcBef>
            </a:pPr>
            <a:r>
              <a:rPr lang="en-US" sz="1999">
                <a:solidFill>
                  <a:srgbClr val="343734"/>
                </a:solidFill>
                <a:latin typeface="Poppins"/>
                <a:ea typeface="Poppins"/>
                <a:cs typeface="Poppins"/>
                <a:sym typeface="Poppins"/>
              </a:rPr>
              <a:t>WN</a:t>
            </a:r>
            <a:r>
              <a:rPr lang="en-US" sz="1999">
                <a:solidFill>
                  <a:srgbClr val="343734"/>
                </a:solidFill>
                <a:latin typeface="Poppins"/>
                <a:ea typeface="Poppins"/>
                <a:cs typeface="Poppins"/>
                <a:sym typeface="Poppins"/>
              </a:rPr>
              <a:t> (Southwest Airlines) dan AA (American Airlines) merupakan dua kontributor delay terbesar, dengan volume signifikan di atas 700K.</a:t>
            </a:r>
          </a:p>
        </p:txBody>
      </p:sp>
      <p:sp>
        <p:nvSpPr>
          <p:cNvPr name="TextBox 36" id="36"/>
          <p:cNvSpPr txBox="true"/>
          <p:nvPr/>
        </p:nvSpPr>
        <p:spPr>
          <a:xfrm rot="0">
            <a:off x="8939194" y="686224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343734"/>
                </a:solidFill>
                <a:latin typeface="Montserrat Bold"/>
                <a:ea typeface="Montserrat Bold"/>
                <a:cs typeface="Montserrat Bold"/>
                <a:sym typeface="Montserrat Bold"/>
              </a:rPr>
              <a:t>5</a:t>
            </a:r>
          </a:p>
        </p:txBody>
      </p:sp>
      <p:sp>
        <p:nvSpPr>
          <p:cNvPr name="Freeform 37" id="37"/>
          <p:cNvSpPr/>
          <p:nvPr/>
        </p:nvSpPr>
        <p:spPr>
          <a:xfrm flipH="true" flipV="false" rot="0">
            <a:off x="15561883" y="8602558"/>
            <a:ext cx="1145602" cy="1145602"/>
          </a:xfrm>
          <a:custGeom>
            <a:avLst/>
            <a:gdLst/>
            <a:ahLst/>
            <a:cxnLst/>
            <a:rect r="r" b="b" t="t" l="l"/>
            <a:pathLst>
              <a:path h="1145602" w="1145602">
                <a:moveTo>
                  <a:pt x="1145602" y="0"/>
                </a:moveTo>
                <a:lnTo>
                  <a:pt x="0" y="0"/>
                </a:lnTo>
                <a:lnTo>
                  <a:pt x="0" y="1145601"/>
                </a:lnTo>
                <a:lnTo>
                  <a:pt x="1145602" y="1145601"/>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7059384" y="-675769"/>
            <a:ext cx="1773784" cy="11876099"/>
            <a:chOff x="0" y="0"/>
            <a:chExt cx="467170" cy="3127862"/>
          </a:xfrm>
        </p:grpSpPr>
        <p:sp>
          <p:nvSpPr>
            <p:cNvPr name="Freeform 3" id="3"/>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4" id="4"/>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1028700" y="1123950"/>
            <a:ext cx="13854017" cy="1245235"/>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RECOMMENDATIONS</a:t>
            </a:r>
          </a:p>
        </p:txBody>
      </p:sp>
      <p:grpSp>
        <p:nvGrpSpPr>
          <p:cNvPr name="Group 6" id="6"/>
          <p:cNvGrpSpPr/>
          <p:nvPr/>
        </p:nvGrpSpPr>
        <p:grpSpPr>
          <a:xfrm rot="0">
            <a:off x="1552866" y="4065358"/>
            <a:ext cx="6193183" cy="3510348"/>
            <a:chOff x="0" y="0"/>
            <a:chExt cx="1363369" cy="772769"/>
          </a:xfrm>
        </p:grpSpPr>
        <p:sp>
          <p:nvSpPr>
            <p:cNvPr name="Freeform 7" id="7"/>
            <p:cNvSpPr/>
            <p:nvPr/>
          </p:nvSpPr>
          <p:spPr>
            <a:xfrm flipH="false" flipV="false" rot="0">
              <a:off x="0" y="0"/>
              <a:ext cx="1363369" cy="772769"/>
            </a:xfrm>
            <a:custGeom>
              <a:avLst/>
              <a:gdLst/>
              <a:ahLst/>
              <a:cxnLst/>
              <a:rect r="r" b="b" t="t" l="l"/>
              <a:pathLst>
                <a:path h="772769" w="1363369">
                  <a:moveTo>
                    <a:pt x="20001" y="0"/>
                  </a:moveTo>
                  <a:lnTo>
                    <a:pt x="1343368" y="0"/>
                  </a:lnTo>
                  <a:cubicBezTo>
                    <a:pt x="1348673" y="0"/>
                    <a:pt x="1353760" y="2107"/>
                    <a:pt x="1357511" y="5858"/>
                  </a:cubicBezTo>
                  <a:cubicBezTo>
                    <a:pt x="1361262" y="9609"/>
                    <a:pt x="1363369" y="14697"/>
                    <a:pt x="1363369" y="20001"/>
                  </a:cubicBezTo>
                  <a:lnTo>
                    <a:pt x="1363369" y="752768"/>
                  </a:lnTo>
                  <a:cubicBezTo>
                    <a:pt x="1363369" y="758073"/>
                    <a:pt x="1361262" y="763160"/>
                    <a:pt x="1357511" y="766911"/>
                  </a:cubicBezTo>
                  <a:cubicBezTo>
                    <a:pt x="1353760" y="770662"/>
                    <a:pt x="1348673" y="772769"/>
                    <a:pt x="1343368" y="772769"/>
                  </a:cubicBezTo>
                  <a:lnTo>
                    <a:pt x="20001" y="772769"/>
                  </a:lnTo>
                  <a:cubicBezTo>
                    <a:pt x="14697" y="772769"/>
                    <a:pt x="9609" y="770662"/>
                    <a:pt x="5858" y="766911"/>
                  </a:cubicBezTo>
                  <a:cubicBezTo>
                    <a:pt x="2107" y="763160"/>
                    <a:pt x="0" y="758073"/>
                    <a:pt x="0" y="752768"/>
                  </a:cubicBezTo>
                  <a:lnTo>
                    <a:pt x="0" y="20001"/>
                  </a:lnTo>
                  <a:cubicBezTo>
                    <a:pt x="0" y="14697"/>
                    <a:pt x="2107" y="9609"/>
                    <a:pt x="5858" y="5858"/>
                  </a:cubicBezTo>
                  <a:cubicBezTo>
                    <a:pt x="9609" y="2107"/>
                    <a:pt x="14697" y="0"/>
                    <a:pt x="20001" y="0"/>
                  </a:cubicBezTo>
                  <a:close/>
                </a:path>
              </a:pathLst>
            </a:custGeom>
            <a:solidFill>
              <a:srgbClr val="EFF1E8"/>
            </a:solidFill>
          </p:spPr>
        </p:sp>
        <p:sp>
          <p:nvSpPr>
            <p:cNvPr name="TextBox 8" id="8"/>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8165368" y="4065358"/>
            <a:ext cx="6193183" cy="3510348"/>
            <a:chOff x="0" y="0"/>
            <a:chExt cx="1363369" cy="772769"/>
          </a:xfrm>
        </p:grpSpPr>
        <p:sp>
          <p:nvSpPr>
            <p:cNvPr name="Freeform 10" id="10"/>
            <p:cNvSpPr/>
            <p:nvPr/>
          </p:nvSpPr>
          <p:spPr>
            <a:xfrm flipH="false" flipV="false" rot="0">
              <a:off x="0" y="0"/>
              <a:ext cx="1363369" cy="772769"/>
            </a:xfrm>
            <a:custGeom>
              <a:avLst/>
              <a:gdLst/>
              <a:ahLst/>
              <a:cxnLst/>
              <a:rect r="r" b="b" t="t" l="l"/>
              <a:pathLst>
                <a:path h="772769" w="1363369">
                  <a:moveTo>
                    <a:pt x="20001" y="0"/>
                  </a:moveTo>
                  <a:lnTo>
                    <a:pt x="1343368" y="0"/>
                  </a:lnTo>
                  <a:cubicBezTo>
                    <a:pt x="1348673" y="0"/>
                    <a:pt x="1353760" y="2107"/>
                    <a:pt x="1357511" y="5858"/>
                  </a:cubicBezTo>
                  <a:cubicBezTo>
                    <a:pt x="1361262" y="9609"/>
                    <a:pt x="1363369" y="14697"/>
                    <a:pt x="1363369" y="20001"/>
                  </a:cubicBezTo>
                  <a:lnTo>
                    <a:pt x="1363369" y="752768"/>
                  </a:lnTo>
                  <a:cubicBezTo>
                    <a:pt x="1363369" y="758073"/>
                    <a:pt x="1361262" y="763160"/>
                    <a:pt x="1357511" y="766911"/>
                  </a:cubicBezTo>
                  <a:cubicBezTo>
                    <a:pt x="1353760" y="770662"/>
                    <a:pt x="1348673" y="772769"/>
                    <a:pt x="1343368" y="772769"/>
                  </a:cubicBezTo>
                  <a:lnTo>
                    <a:pt x="20001" y="772769"/>
                  </a:lnTo>
                  <a:cubicBezTo>
                    <a:pt x="14697" y="772769"/>
                    <a:pt x="9609" y="770662"/>
                    <a:pt x="5858" y="766911"/>
                  </a:cubicBezTo>
                  <a:cubicBezTo>
                    <a:pt x="2107" y="763160"/>
                    <a:pt x="0" y="758073"/>
                    <a:pt x="0" y="752768"/>
                  </a:cubicBezTo>
                  <a:lnTo>
                    <a:pt x="0" y="20001"/>
                  </a:lnTo>
                  <a:cubicBezTo>
                    <a:pt x="0" y="14697"/>
                    <a:pt x="2107" y="9609"/>
                    <a:pt x="5858" y="5858"/>
                  </a:cubicBezTo>
                  <a:cubicBezTo>
                    <a:pt x="9609" y="2107"/>
                    <a:pt x="14697" y="0"/>
                    <a:pt x="20001" y="0"/>
                  </a:cubicBezTo>
                  <a:close/>
                </a:path>
              </a:pathLst>
            </a:custGeom>
            <a:solidFill>
              <a:srgbClr val="EFF1E8"/>
            </a:solidFill>
          </p:spPr>
        </p:sp>
        <p:sp>
          <p:nvSpPr>
            <p:cNvPr name="TextBox 11" id="11"/>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96963" y="8593415"/>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942529" y="5001853"/>
            <a:ext cx="5335924" cy="398962"/>
          </a:xfrm>
          <a:prstGeom prst="rect">
            <a:avLst/>
          </a:prstGeom>
        </p:spPr>
        <p:txBody>
          <a:bodyPr anchor="t" rtlCol="false" tIns="0" lIns="0" bIns="0" rIns="0">
            <a:spAutoFit/>
          </a:bodyPr>
          <a:lstStyle/>
          <a:p>
            <a:pPr algn="l">
              <a:lnSpc>
                <a:spcPts val="3349"/>
              </a:lnSpc>
              <a:spcBef>
                <a:spcPct val="0"/>
              </a:spcBef>
            </a:pPr>
            <a:r>
              <a:rPr lang="en-US" b="true" sz="2392">
                <a:solidFill>
                  <a:srgbClr val="343734"/>
                </a:solidFill>
                <a:latin typeface="Montserrat Bold"/>
                <a:ea typeface="Montserrat Bold"/>
                <a:cs typeface="Montserrat Bold"/>
                <a:sym typeface="Montserrat Bold"/>
              </a:rPr>
              <a:t>Maskapai</a:t>
            </a:r>
          </a:p>
        </p:txBody>
      </p:sp>
      <p:sp>
        <p:nvSpPr>
          <p:cNvPr name="TextBox 14" id="14"/>
          <p:cNvSpPr txBox="true"/>
          <p:nvPr/>
        </p:nvSpPr>
        <p:spPr>
          <a:xfrm rot="0">
            <a:off x="1941445" y="5402514"/>
            <a:ext cx="5050171" cy="1692454"/>
          </a:xfrm>
          <a:prstGeom prst="rect">
            <a:avLst/>
          </a:prstGeom>
        </p:spPr>
        <p:txBody>
          <a:bodyPr anchor="t" rtlCol="false" tIns="0" lIns="0" bIns="0" rIns="0">
            <a:spAutoFit/>
          </a:bodyPr>
          <a:lstStyle/>
          <a:p>
            <a:pPr algn="l">
              <a:lnSpc>
                <a:spcPts val="3349"/>
              </a:lnSpc>
              <a:spcBef>
                <a:spcPct val="0"/>
              </a:spcBef>
            </a:pPr>
            <a:r>
              <a:rPr lang="en-US" sz="2392">
                <a:solidFill>
                  <a:srgbClr val="343734"/>
                </a:solidFill>
                <a:latin typeface="Poppins"/>
                <a:ea typeface="Poppins"/>
                <a:cs typeface="Poppins"/>
                <a:sym typeface="Poppins"/>
              </a:rPr>
              <a:t>Fo</a:t>
            </a:r>
            <a:r>
              <a:rPr lang="en-US" sz="2392">
                <a:solidFill>
                  <a:srgbClr val="343734"/>
                </a:solidFill>
                <a:latin typeface="Poppins"/>
                <a:ea typeface="Poppins"/>
                <a:cs typeface="Poppins"/>
                <a:sym typeface="Poppins"/>
              </a:rPr>
              <a:t>kuskan strategi mitigasi pada faktor internal maskapai karena kontribusinya mencapai 73% dari total delay.</a:t>
            </a:r>
          </a:p>
        </p:txBody>
      </p:sp>
      <p:sp>
        <p:nvSpPr>
          <p:cNvPr name="TextBox 15" id="15"/>
          <p:cNvSpPr txBox="true"/>
          <p:nvPr/>
        </p:nvSpPr>
        <p:spPr>
          <a:xfrm rot="0">
            <a:off x="1942529" y="4118928"/>
            <a:ext cx="1047099" cy="856480"/>
          </a:xfrm>
          <a:prstGeom prst="rect">
            <a:avLst/>
          </a:prstGeom>
        </p:spPr>
        <p:txBody>
          <a:bodyPr anchor="t" rtlCol="false" tIns="0" lIns="0" bIns="0" rIns="0">
            <a:spAutoFit/>
          </a:bodyPr>
          <a:lstStyle/>
          <a:p>
            <a:pPr algn="l">
              <a:lnSpc>
                <a:spcPts val="7034"/>
              </a:lnSpc>
              <a:spcBef>
                <a:spcPct val="0"/>
              </a:spcBef>
            </a:pPr>
            <a:r>
              <a:rPr lang="en-US" b="true" sz="5024">
                <a:solidFill>
                  <a:srgbClr val="343734"/>
                </a:solidFill>
                <a:latin typeface="Montserrat Bold"/>
                <a:ea typeface="Montserrat Bold"/>
                <a:cs typeface="Montserrat Bold"/>
                <a:sym typeface="Montserrat Bold"/>
              </a:rPr>
              <a:t>1</a:t>
            </a:r>
          </a:p>
        </p:txBody>
      </p:sp>
      <p:sp>
        <p:nvSpPr>
          <p:cNvPr name="TextBox 16" id="16"/>
          <p:cNvSpPr txBox="true"/>
          <p:nvPr/>
        </p:nvSpPr>
        <p:spPr>
          <a:xfrm rot="0">
            <a:off x="8555031" y="5001853"/>
            <a:ext cx="5335924" cy="398962"/>
          </a:xfrm>
          <a:prstGeom prst="rect">
            <a:avLst/>
          </a:prstGeom>
        </p:spPr>
        <p:txBody>
          <a:bodyPr anchor="t" rtlCol="false" tIns="0" lIns="0" bIns="0" rIns="0">
            <a:spAutoFit/>
          </a:bodyPr>
          <a:lstStyle/>
          <a:p>
            <a:pPr algn="l">
              <a:lnSpc>
                <a:spcPts val="3349"/>
              </a:lnSpc>
              <a:spcBef>
                <a:spcPct val="0"/>
              </a:spcBef>
            </a:pPr>
            <a:r>
              <a:rPr lang="en-US" b="true" sz="2392">
                <a:solidFill>
                  <a:srgbClr val="343734"/>
                </a:solidFill>
                <a:latin typeface="Montserrat Bold"/>
                <a:ea typeface="Montserrat Bold"/>
                <a:cs typeface="Montserrat Bold"/>
                <a:sym typeface="Montserrat Bold"/>
              </a:rPr>
              <a:t>investigasi</a:t>
            </a:r>
          </a:p>
        </p:txBody>
      </p:sp>
      <p:sp>
        <p:nvSpPr>
          <p:cNvPr name="TextBox 17" id="17"/>
          <p:cNvSpPr txBox="true"/>
          <p:nvPr/>
        </p:nvSpPr>
        <p:spPr>
          <a:xfrm rot="0">
            <a:off x="8554544" y="5402514"/>
            <a:ext cx="5050171" cy="2535733"/>
          </a:xfrm>
          <a:prstGeom prst="rect">
            <a:avLst/>
          </a:prstGeom>
        </p:spPr>
        <p:txBody>
          <a:bodyPr anchor="t" rtlCol="false" tIns="0" lIns="0" bIns="0" rIns="0">
            <a:spAutoFit/>
          </a:bodyPr>
          <a:lstStyle/>
          <a:p>
            <a:pPr algn="l">
              <a:lnSpc>
                <a:spcPts val="3349"/>
              </a:lnSpc>
              <a:spcBef>
                <a:spcPct val="0"/>
              </a:spcBef>
            </a:pPr>
            <a:r>
              <a:rPr lang="en-US" sz="2392">
                <a:solidFill>
                  <a:srgbClr val="343734"/>
                </a:solidFill>
                <a:latin typeface="Poppins"/>
                <a:ea typeface="Poppins"/>
                <a:cs typeface="Poppins"/>
                <a:sym typeface="Poppins"/>
              </a:rPr>
              <a:t>Investigasi lebih lanjut penyebab lonjakan delay sejak 2020 dan mengapa belum kembali ke baseline prepandemic. apakah terkait kekurangan tenaga kerja industri penerbangan?</a:t>
            </a:r>
          </a:p>
        </p:txBody>
      </p:sp>
      <p:sp>
        <p:nvSpPr>
          <p:cNvPr name="TextBox 18" id="18"/>
          <p:cNvSpPr txBox="true"/>
          <p:nvPr/>
        </p:nvSpPr>
        <p:spPr>
          <a:xfrm rot="0">
            <a:off x="8555031" y="4118928"/>
            <a:ext cx="1047099" cy="856480"/>
          </a:xfrm>
          <a:prstGeom prst="rect">
            <a:avLst/>
          </a:prstGeom>
        </p:spPr>
        <p:txBody>
          <a:bodyPr anchor="t" rtlCol="false" tIns="0" lIns="0" bIns="0" rIns="0">
            <a:spAutoFit/>
          </a:bodyPr>
          <a:lstStyle/>
          <a:p>
            <a:pPr algn="l">
              <a:lnSpc>
                <a:spcPts val="7034"/>
              </a:lnSpc>
              <a:spcBef>
                <a:spcPct val="0"/>
              </a:spcBef>
            </a:pPr>
            <a:r>
              <a:rPr lang="en-US" b="true" sz="5024">
                <a:solidFill>
                  <a:srgbClr val="343734"/>
                </a:solidFill>
                <a:latin typeface="Montserrat Bold"/>
                <a:ea typeface="Montserrat Bold"/>
                <a:cs typeface="Montserrat Bold"/>
                <a:sym typeface="Montserrat Bold"/>
              </a:rPr>
              <a:t>2</a:t>
            </a:r>
          </a:p>
        </p:txBody>
      </p:sp>
      <p:sp>
        <p:nvSpPr>
          <p:cNvPr name="Freeform 19" id="19"/>
          <p:cNvSpPr/>
          <p:nvPr/>
        </p:nvSpPr>
        <p:spPr>
          <a:xfrm flipH="true" flipV="false" rot="0">
            <a:off x="15561883" y="8602558"/>
            <a:ext cx="1145602" cy="1145602"/>
          </a:xfrm>
          <a:custGeom>
            <a:avLst/>
            <a:gdLst/>
            <a:ahLst/>
            <a:cxnLst/>
            <a:rect r="r" b="b" t="t" l="l"/>
            <a:pathLst>
              <a:path h="1145602" w="1145602">
                <a:moveTo>
                  <a:pt x="1145602" y="0"/>
                </a:moveTo>
                <a:lnTo>
                  <a:pt x="0" y="0"/>
                </a:lnTo>
                <a:lnTo>
                  <a:pt x="0" y="1145601"/>
                </a:lnTo>
                <a:lnTo>
                  <a:pt x="1145602" y="1145601"/>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877592" y="84922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123950"/>
            <a:ext cx="7795185"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F</a:t>
            </a:r>
            <a:r>
              <a:rPr lang="en-US" b="true" sz="8799">
                <a:solidFill>
                  <a:srgbClr val="343734"/>
                </a:solidFill>
                <a:latin typeface="Montserrat Bold"/>
                <a:ea typeface="Montserrat Bold"/>
                <a:cs typeface="Montserrat Bold"/>
                <a:sym typeface="Montserrat Bold"/>
              </a:rPr>
              <a:t>inal Conclusion</a:t>
            </a:r>
          </a:p>
        </p:txBody>
      </p:sp>
      <p:sp>
        <p:nvSpPr>
          <p:cNvPr name="TextBox 4" id="4"/>
          <p:cNvSpPr txBox="true"/>
          <p:nvPr/>
        </p:nvSpPr>
        <p:spPr>
          <a:xfrm rot="0">
            <a:off x="1028700" y="4230978"/>
            <a:ext cx="7140660" cy="2835275"/>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Da</a:t>
            </a:r>
            <a:r>
              <a:rPr lang="en-US" sz="2000">
                <a:solidFill>
                  <a:srgbClr val="343734"/>
                </a:solidFill>
                <a:latin typeface="Poppins"/>
                <a:ea typeface="Poppins"/>
                <a:cs typeface="Poppins"/>
                <a:sym typeface="Poppins"/>
              </a:rPr>
              <a:t>shboard ini mengungkap bahwa mayoritas keterlambatan penerbangan di AS disebabkan oleh faktor operasional internal maskapai, insight yang actionable dan sering kali berlawanan dengan asumsi umum publik. Ditemukan pergeseran baseline delay sejak 2020 yang bertahan hingga 2022, menandakan perubahan struktural dalam efisiensi operasional industri penerbangan pascapandemi.</a:t>
            </a:r>
          </a:p>
        </p:txBody>
      </p:sp>
      <p:sp>
        <p:nvSpPr>
          <p:cNvPr name="Freeform 5" id="5"/>
          <p:cNvSpPr/>
          <p:nvPr/>
        </p:nvSpPr>
        <p:spPr>
          <a:xfrm flipH="false" flipV="false" rot="0">
            <a:off x="9508113" y="2109744"/>
            <a:ext cx="7019419" cy="5052772"/>
          </a:xfrm>
          <a:custGeom>
            <a:avLst/>
            <a:gdLst/>
            <a:ahLst/>
            <a:cxnLst/>
            <a:rect r="r" b="b" t="t" l="l"/>
            <a:pathLst>
              <a:path h="5052772" w="7019419">
                <a:moveTo>
                  <a:pt x="0" y="0"/>
                </a:moveTo>
                <a:lnTo>
                  <a:pt x="7019419" y="0"/>
                </a:lnTo>
                <a:lnTo>
                  <a:pt x="7019419" y="5052771"/>
                </a:lnTo>
                <a:lnTo>
                  <a:pt x="0" y="5052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AB66C"/>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9637891" y="2754659"/>
            <a:ext cx="7621409" cy="4901354"/>
          </a:xfrm>
          <a:custGeom>
            <a:avLst/>
            <a:gdLst/>
            <a:ahLst/>
            <a:cxnLst/>
            <a:rect r="r" b="b" t="t" l="l"/>
            <a:pathLst>
              <a:path h="4901354" w="7621409">
                <a:moveTo>
                  <a:pt x="0" y="0"/>
                </a:moveTo>
                <a:lnTo>
                  <a:pt x="7621409" y="0"/>
                </a:lnTo>
                <a:lnTo>
                  <a:pt x="7621409" y="4901354"/>
                </a:lnTo>
                <a:lnTo>
                  <a:pt x="0" y="4901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00911" y="2516722"/>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Freeform 7" id="7"/>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00911" y="7697204"/>
            <a:ext cx="6595674" cy="358825"/>
          </a:xfrm>
          <a:prstGeom prst="rect">
            <a:avLst/>
          </a:prstGeom>
        </p:spPr>
        <p:txBody>
          <a:bodyPr anchor="t" rtlCol="false" tIns="0" lIns="0" bIns="0" rIns="0">
            <a:spAutoFit/>
          </a:bodyPr>
          <a:lstStyle/>
          <a:p>
            <a:pPr algn="l">
              <a:lnSpc>
                <a:spcPts val="2799"/>
              </a:lnSpc>
              <a:spcBef>
                <a:spcPct val="0"/>
              </a:spcBef>
            </a:pPr>
            <a:r>
              <a:rPr lang="en-US" sz="1999" spc="345">
                <a:solidFill>
                  <a:srgbClr val="EFF1E8"/>
                </a:solidFill>
                <a:latin typeface="Poppins"/>
                <a:ea typeface="Poppins"/>
                <a:cs typeface="Poppins"/>
                <a:sym typeface="Poppins"/>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DAHUKRYaIvw</dc:identifier>
  <dcterms:modified xsi:type="dcterms:W3CDTF">2011-08-01T06:04:30Z</dcterms:modified>
  <cp:revision>1</cp:revision>
  <dc:title>Salinan dari Blue and Grey Modern Data Analyst Presentation</dc:title>
</cp:coreProperties>
</file>